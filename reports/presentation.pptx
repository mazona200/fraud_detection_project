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9" r:id="rId2"/>
    <p:sldId id="270" r:id="rId3"/>
    <p:sldId id="256" r:id="rId4"/>
    <p:sldId id="273" r:id="rId5"/>
    <p:sldId id="257" r:id="rId6"/>
    <p:sldId id="258" r:id="rId7"/>
    <p:sldId id="259" r:id="rId8"/>
    <p:sldId id="260" r:id="rId9"/>
    <p:sldId id="271" r:id="rId10"/>
    <p:sldId id="272" r:id="rId11"/>
    <p:sldId id="261" r:id="rId12"/>
    <p:sldId id="262" r:id="rId13"/>
    <p:sldId id="263" r:id="rId14"/>
    <p:sldId id="264" r:id="rId15"/>
    <p:sldId id="265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88549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12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72651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01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344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38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5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21032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1132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41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3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42967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0CB11-E67A-9E0B-01D4-6D968FF118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b="1" dirty="0"/>
              <a:t>Healthcare Fraud Detection Using Machine Learning</a:t>
            </a:r>
            <a:br>
              <a:rPr lang="en-US" sz="2400" dirty="0"/>
            </a:br>
            <a:r>
              <a:rPr lang="en-US" sz="2400" dirty="0"/>
              <a:t>Machine Learning – Project 2</a:t>
            </a:r>
            <a:br>
              <a:rPr lang="en-US" sz="2400" dirty="0"/>
            </a:br>
            <a:endParaRPr lang="en-EG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CD3071-46F8-D9E2-EF7D-3F569C3A2B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</a:t>
            </a:r>
            <a:r>
              <a:rPr lang="en-US" i="1" dirty="0"/>
              <a:t>Marwan Deif &amp; Mazen Yasser</a:t>
            </a:r>
            <a:endParaRPr lang="en-US" dirty="0"/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755167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D4EE-7C38-4E2B-EE73-96C5B10D1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 Are We Trying to Solve?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926553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3811" y="1828802"/>
            <a:ext cx="3986775" cy="3593591"/>
          </a:xfrm>
        </p:spPr>
        <p:txBody>
          <a:bodyPr/>
          <a:lstStyle/>
          <a:p>
            <a:r>
              <a:rPr dirty="0"/>
              <a:t>Healthcare fraud causes major financial losses.</a:t>
            </a:r>
          </a:p>
          <a:p>
            <a:r>
              <a:rPr dirty="0"/>
              <a:t>Fraudulent providers hide within normal claim patterns.</a:t>
            </a:r>
          </a:p>
          <a:p>
            <a:r>
              <a:rPr dirty="0"/>
              <a:t>Manual auditing is slow and inaccurate.</a:t>
            </a:r>
          </a:p>
          <a:p>
            <a:r>
              <a:rPr dirty="0"/>
              <a:t>Dataset is highly imbalanced with few fraud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97856-9BB8-367E-491C-9B6B8092B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We Approach This Problem?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103113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1796904"/>
            <a:ext cx="4079809" cy="3593591"/>
          </a:xfrm>
        </p:spPr>
        <p:txBody>
          <a:bodyPr/>
          <a:lstStyle/>
          <a:p>
            <a:r>
              <a:rPr dirty="0"/>
              <a:t>Merged beneficiary, inpatient, outpatient, and provider data.</a:t>
            </a:r>
          </a:p>
          <a:p>
            <a:r>
              <a:rPr dirty="0"/>
              <a:t>Explored claim behaviors and anomalies.</a:t>
            </a:r>
          </a:p>
          <a:p>
            <a:r>
              <a:rPr dirty="0"/>
              <a:t>Engineered provider-level features.</a:t>
            </a:r>
          </a:p>
          <a:p>
            <a:r>
              <a:rPr dirty="0"/>
              <a:t>Applied class weights and SMOTE.</a:t>
            </a:r>
          </a:p>
          <a:p>
            <a:r>
              <a:rPr dirty="0"/>
              <a:t>Evaluated multiple ML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Data Did We Explore?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Identified missing values and duplicates.</a:t>
            </a:r>
          </a:p>
          <a:p>
            <a:r>
              <a:rPr dirty="0"/>
              <a:t>Heavy‑tailed claim amounts.</a:t>
            </a:r>
          </a:p>
          <a:p>
            <a:r>
              <a:rPr dirty="0"/>
              <a:t>Linked BeneID → claims, ProviderID → labels.</a:t>
            </a:r>
          </a:p>
          <a:p>
            <a:r>
              <a:rPr dirty="0"/>
              <a:t>Aggregated provider‑level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Experiments Did We Run?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u="sng" dirty="0"/>
              <a:t>Experiments We Tried:</a:t>
            </a:r>
          </a:p>
          <a:p>
            <a:pPr marL="0" indent="0">
              <a:buNone/>
            </a:pPr>
            <a:endParaRPr lang="en-US" b="1" u="sng" dirty="0"/>
          </a:p>
          <a:p>
            <a:r>
              <a:rPr lang="en-US" dirty="0"/>
              <a:t>Tested different feature combinations.</a:t>
            </a:r>
          </a:p>
          <a:p>
            <a:r>
              <a:rPr lang="en-US" dirty="0"/>
              <a:t>Tried SMOTE vs no-SMOTE.</a:t>
            </a:r>
          </a:p>
          <a:p>
            <a:r>
              <a:rPr lang="en-US" dirty="0"/>
              <a:t>Compared class weights vs default settings.</a:t>
            </a:r>
          </a:p>
          <a:p>
            <a:r>
              <a:rPr lang="en-US" dirty="0"/>
              <a:t>Tuned gradient boosting: learning rate, max depth, subsample.</a:t>
            </a:r>
          </a:p>
          <a:p>
            <a:r>
              <a:rPr lang="en-US" dirty="0"/>
              <a:t>Compared performance using Recall, Precision, F1, PR-AUC.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Insights We Learned</a:t>
            </a:r>
          </a:p>
          <a:p>
            <a:r>
              <a:rPr lang="en-US" dirty="0"/>
              <a:t>SMOTE improves recall but can add noise.</a:t>
            </a:r>
          </a:p>
          <a:p>
            <a:r>
              <a:rPr lang="en-US" dirty="0"/>
              <a:t>Class-weighted Logistic Regression improves fairness and interpretability.</a:t>
            </a:r>
          </a:p>
          <a:p>
            <a:r>
              <a:rPr lang="en-US" dirty="0"/>
              <a:t>Gradient Boosting consistently found more subtle fraud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Errors Did We Find (FPs &amp; FNs)?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False Positives (Legitimate Flagged as Fraud)</a:t>
            </a:r>
          </a:p>
          <a:p>
            <a:r>
              <a:rPr lang="en-US" dirty="0"/>
              <a:t>Temporary spikes in claims.</a:t>
            </a:r>
          </a:p>
          <a:p>
            <a:r>
              <a:rPr lang="en-US" dirty="0"/>
              <a:t>High average claim amounts.</a:t>
            </a:r>
          </a:p>
          <a:p>
            <a:r>
              <a:rPr lang="en-US" dirty="0"/>
              <a:t>Patterns similar to known fraud signatures.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False Negatives (Fraud Missed by Model)</a:t>
            </a:r>
          </a:p>
          <a:p>
            <a:r>
              <a:rPr lang="en-US" dirty="0"/>
              <a:t>Fraud patterns that mimic normal behavior.</a:t>
            </a:r>
          </a:p>
          <a:p>
            <a:r>
              <a:rPr lang="en-US" dirty="0"/>
              <a:t>Moderate claim values with no outliers.</a:t>
            </a:r>
          </a:p>
          <a:p>
            <a:r>
              <a:rPr lang="en-US" dirty="0"/>
              <a:t>Underrepresentation of certain fraud types.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Implications</a:t>
            </a:r>
          </a:p>
          <a:p>
            <a:r>
              <a:rPr lang="en-US" dirty="0"/>
              <a:t>FPs create unnecessary investigation cost.</a:t>
            </a:r>
          </a:p>
          <a:p>
            <a:r>
              <a:rPr lang="en-US" dirty="0"/>
              <a:t>FNs allow fraud to continue → 10× larger financial loss.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8FFE9-C4D5-A24B-ECB2-F8E6E80E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Did We Handle Class Imbalance?</a:t>
            </a:r>
            <a:br>
              <a:rPr lang="en-US" b="1" dirty="0"/>
            </a:b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571612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D07D7-CD91-DDB4-7721-16C78229A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58" y="404038"/>
            <a:ext cx="5206861" cy="59754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/>
              <a:t>Our Strategy</a:t>
            </a:r>
          </a:p>
          <a:p>
            <a:r>
              <a:rPr lang="en-US" b="1" dirty="0"/>
              <a:t>Class Weighting</a:t>
            </a:r>
            <a:r>
              <a:rPr lang="en-US" dirty="0"/>
              <a:t> (Logistic Regression)</a:t>
            </a:r>
          </a:p>
          <a:p>
            <a:r>
              <a:rPr lang="en-US" b="1" dirty="0"/>
              <a:t>SMOTE Oversampling</a:t>
            </a:r>
            <a:r>
              <a:rPr lang="en-US" dirty="0"/>
              <a:t> (Random Forest)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Why This Strategy?</a:t>
            </a:r>
          </a:p>
          <a:p>
            <a:r>
              <a:rPr lang="en-US" dirty="0"/>
              <a:t>Accuracy is misleading when fraud cases are rare.</a:t>
            </a:r>
          </a:p>
          <a:p>
            <a:r>
              <a:rPr lang="en-US" dirty="0"/>
              <a:t>SMOTE boosts recall; class weighting preserves real data distribution.</a:t>
            </a:r>
          </a:p>
          <a:p>
            <a:r>
              <a:rPr lang="en-US" dirty="0"/>
              <a:t>Balances fairness (not ignoring minority fraud) + interpretability.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Trade-offs</a:t>
            </a:r>
          </a:p>
          <a:p>
            <a:r>
              <a:rPr lang="en-US" dirty="0"/>
              <a:t>SMOTE may introduce synthetic noise.</a:t>
            </a:r>
          </a:p>
          <a:p>
            <a:r>
              <a:rPr lang="en-US" dirty="0"/>
              <a:t>Class-weighted models are more interpretable but may underperform on complex patterns.</a:t>
            </a: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783762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Fraud Hard to Detect?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Fraud cases are extremely rare.</a:t>
            </a:r>
          </a:p>
          <a:p>
            <a:r>
              <a:rPr dirty="0"/>
              <a:t>Class Weighting preserves distribution.</a:t>
            </a:r>
          </a:p>
          <a:p>
            <a:r>
              <a:rPr dirty="0"/>
              <a:t>SMOTE increases recall.</a:t>
            </a:r>
          </a:p>
          <a:p>
            <a:r>
              <a:rPr dirty="0"/>
              <a:t>Trade‑off: SMOTE introduces noise.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Did We Discover?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Gradient Boosting achieved highest PR‑AUC &amp; F1.</a:t>
            </a:r>
          </a:p>
          <a:p>
            <a:r>
              <a:rPr dirty="0"/>
              <a:t>Imbalance handling improved results.</a:t>
            </a:r>
          </a:p>
          <a:p>
            <a:r>
              <a:rPr dirty="0"/>
              <a:t>FP = legitimate spikes; FN = hidden fraud.</a:t>
            </a:r>
          </a:p>
          <a:p>
            <a:r>
              <a:rPr dirty="0"/>
              <a:t>FN cost ≈ 10× FP cost.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Did We Choose Gradient Boosting?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/>
              <a:t>Why This Model Fits Our Dataset</a:t>
            </a:r>
          </a:p>
          <a:p>
            <a:r>
              <a:rPr lang="en-US" dirty="0"/>
              <a:t>Handles </a:t>
            </a:r>
            <a:r>
              <a:rPr lang="en-US" b="1" dirty="0"/>
              <a:t>nonlinear fraud patterns</a:t>
            </a:r>
            <a:r>
              <a:rPr lang="en-US" dirty="0"/>
              <a:t> effectively.</a:t>
            </a:r>
          </a:p>
          <a:p>
            <a:r>
              <a:rPr lang="en-US" dirty="0"/>
              <a:t>Performs well on </a:t>
            </a:r>
            <a:r>
              <a:rPr lang="en-US" b="1" dirty="0"/>
              <a:t>imbalanced data</a:t>
            </a:r>
            <a:r>
              <a:rPr lang="en-US" dirty="0"/>
              <a:t> with tuning.</a:t>
            </a:r>
          </a:p>
          <a:p>
            <a:r>
              <a:rPr lang="en-US" dirty="0"/>
              <a:t>Has regularization to reduce overfitting.</a:t>
            </a:r>
          </a:p>
          <a:p>
            <a:r>
              <a:rPr lang="en-US" dirty="0"/>
              <a:t>Provides feature importance + SHAP explanations.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Alignment With Data</a:t>
            </a:r>
          </a:p>
          <a:p>
            <a:r>
              <a:rPr lang="en-US" dirty="0"/>
              <a:t>Mixed numerical/categorical features.</a:t>
            </a:r>
          </a:p>
          <a:p>
            <a:r>
              <a:rPr lang="en-US" dirty="0"/>
              <a:t>Nonlinear interactions between claims &amp; beneficiaries.</a:t>
            </a:r>
          </a:p>
          <a:p>
            <a:r>
              <a:rPr lang="en-US" dirty="0"/>
              <a:t>Needs a model robust to noisy or incomplete inputs.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Other Models Compare?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2286002"/>
            <a:ext cx="7633742" cy="429555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u="sng" dirty="0"/>
              <a:t>Random Forest</a:t>
            </a:r>
          </a:p>
          <a:p>
            <a:r>
              <a:rPr lang="en-US" dirty="0"/>
              <a:t>Robust + good baseline</a:t>
            </a:r>
          </a:p>
          <a:p>
            <a:r>
              <a:rPr lang="en-US" dirty="0"/>
              <a:t>Less interpretable than Logistic Regression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u="sng" dirty="0"/>
              <a:t>Logistic Regression</a:t>
            </a:r>
          </a:p>
          <a:p>
            <a:r>
              <a:rPr lang="en-US" dirty="0"/>
              <a:t>Very interpretable</a:t>
            </a:r>
          </a:p>
          <a:p>
            <a:r>
              <a:rPr lang="en-US" dirty="0"/>
              <a:t>Lower recall → misses subtle fraud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u="sng" dirty="0"/>
              <a:t>Gradient Boosting</a:t>
            </a:r>
          </a:p>
          <a:p>
            <a:r>
              <a:rPr lang="en-US" dirty="0"/>
              <a:t>Highest predictive power</a:t>
            </a:r>
          </a:p>
          <a:p>
            <a:r>
              <a:rPr lang="en-US" dirty="0"/>
              <a:t>Less interpretable → SHAP required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u="sng" dirty="0"/>
              <a:t>Trade-Off</a:t>
            </a:r>
            <a:endParaRPr lang="en-US" u="sng" dirty="0"/>
          </a:p>
          <a:p>
            <a:r>
              <a:rPr lang="en-US" b="1" dirty="0"/>
              <a:t>Predictive Power vs Explainability:</a:t>
            </a:r>
            <a:endParaRPr lang="en-US" dirty="0"/>
          </a:p>
          <a:p>
            <a:r>
              <a:rPr lang="en-US" dirty="0"/>
              <a:t>We chose Gradient Boosting for performance and used SHAP to maintain transparency.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Did We Evaluate the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2286002"/>
            <a:ext cx="7633742" cy="441251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 dirty="0"/>
              <a:t>Evaluation Process</a:t>
            </a:r>
          </a:p>
          <a:p>
            <a:r>
              <a:rPr lang="en-US" dirty="0"/>
              <a:t>Explored and cleaned data → engineered features → tested models → tuned parameters.</a:t>
            </a:r>
          </a:p>
          <a:p>
            <a:r>
              <a:rPr lang="en-US" dirty="0"/>
              <a:t>Used a </a:t>
            </a:r>
            <a:r>
              <a:rPr lang="en-US" b="1" dirty="0"/>
              <a:t>60/20/20 split</a:t>
            </a:r>
            <a:r>
              <a:rPr lang="en-US" dirty="0"/>
              <a:t> with stratified sampling.</a:t>
            </a:r>
          </a:p>
          <a:p>
            <a:r>
              <a:rPr lang="en-US" dirty="0"/>
              <a:t>Applied </a:t>
            </a:r>
            <a:r>
              <a:rPr lang="en-US" b="1" dirty="0"/>
              <a:t>L2 regularization</a:t>
            </a:r>
            <a:r>
              <a:rPr lang="en-US" dirty="0"/>
              <a:t> to reduce overfitting.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Cost-Based Metrics</a:t>
            </a:r>
          </a:p>
          <a:p>
            <a:r>
              <a:rPr lang="en-US" dirty="0"/>
              <a:t>FP investigation ≈ </a:t>
            </a:r>
            <a:r>
              <a:rPr lang="en-US" b="1" dirty="0"/>
              <a:t>$5,000</a:t>
            </a:r>
            <a:endParaRPr lang="en-US" dirty="0"/>
          </a:p>
          <a:p>
            <a:r>
              <a:rPr lang="en-US" dirty="0"/>
              <a:t>FN undetected fraud ≈ </a:t>
            </a:r>
            <a:r>
              <a:rPr lang="en-US" b="1" dirty="0"/>
              <a:t>$50,000</a:t>
            </a:r>
            <a:endParaRPr lang="en-US" dirty="0"/>
          </a:p>
          <a:p>
            <a:r>
              <a:rPr lang="en-US" dirty="0"/>
              <a:t>FNs cost 10× more → recall becomes critical.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Why This Matters</a:t>
            </a:r>
          </a:p>
          <a:p>
            <a:r>
              <a:rPr lang="en-US" dirty="0"/>
              <a:t>Helps pick the right decision threshold.</a:t>
            </a:r>
          </a:p>
          <a:p>
            <a:r>
              <a:rPr lang="en-US" dirty="0"/>
              <a:t>Reduces high-cost fraud cases.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2286002"/>
            <a:ext cx="7633742" cy="3902147"/>
          </a:xfrm>
        </p:spPr>
        <p:txBody>
          <a:bodyPr>
            <a:normAutofit/>
          </a:bodyPr>
          <a:lstStyle/>
          <a:p>
            <a:r>
              <a:rPr lang="en-US" dirty="0"/>
              <a:t>Our model helps find hidden fraud that humans might miss.</a:t>
            </a:r>
          </a:p>
          <a:p>
            <a:r>
              <a:rPr lang="en-US" dirty="0"/>
              <a:t>Gradient Boosting was the smartest and most reliable choice.</a:t>
            </a:r>
          </a:p>
          <a:p>
            <a:r>
              <a:rPr lang="en-US" dirty="0"/>
              <a:t>Missing fraud is extremely costly — so high recall is essential.</a:t>
            </a:r>
          </a:p>
          <a:p>
            <a:r>
              <a:rPr lang="en-US" dirty="0"/>
              <a:t>Overall, this project sets the stage for a stronger, scalable fraud detection 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7819" y="3161408"/>
            <a:ext cx="3628361" cy="5351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3600" dirty="0">
                <a:cs typeface="Al Bayan Plain" pitchFamily="2" charset="-78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20</TotalTime>
  <Words>694</Words>
  <Application>Microsoft Macintosh PowerPoint</Application>
  <PresentationFormat>On-screen Show (4:3)</PresentationFormat>
  <Paragraphs>111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Al Bayan Plain</vt:lpstr>
      <vt:lpstr>Arial</vt:lpstr>
      <vt:lpstr>Gill Sans MT</vt:lpstr>
      <vt:lpstr>Impact</vt:lpstr>
      <vt:lpstr>Badge</vt:lpstr>
      <vt:lpstr>Healthcare Fraud Detection Using Machine Learning Machine Learning – Project 2 </vt:lpstr>
      <vt:lpstr>What Problem Are We Trying to Solve?</vt:lpstr>
      <vt:lpstr>PowerPoint Presentation</vt:lpstr>
      <vt:lpstr>How Did We Approach This Problem?</vt:lpstr>
      <vt:lpstr>PowerPoint Presentation</vt:lpstr>
      <vt:lpstr>What Data Did We Explore?</vt:lpstr>
      <vt:lpstr>What Experiments Did We Run?</vt:lpstr>
      <vt:lpstr>What Errors Did We Find (FPs &amp; FNs)?</vt:lpstr>
      <vt:lpstr>How Did We Handle Class Imbalance? </vt:lpstr>
      <vt:lpstr>PowerPoint Presentation</vt:lpstr>
      <vt:lpstr>Why Is Fraud Hard to Detect?</vt:lpstr>
      <vt:lpstr>What Did We Discover?</vt:lpstr>
      <vt:lpstr>Why Did We Choose Gradient Boosting?</vt:lpstr>
      <vt:lpstr>How Do Other Models Compare?</vt:lpstr>
      <vt:lpstr>How Did We Evaluate the System?</vt:lpstr>
      <vt:lpstr>Conclusion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mazen yasser</cp:lastModifiedBy>
  <cp:revision>3</cp:revision>
  <dcterms:created xsi:type="dcterms:W3CDTF">2013-01-27T09:14:16Z</dcterms:created>
  <dcterms:modified xsi:type="dcterms:W3CDTF">2025-12-03T15:47:27Z</dcterms:modified>
  <cp:category/>
</cp:coreProperties>
</file>